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bac93d80f045a6" /><Relationship Type="http://schemas.openxmlformats.org/officeDocument/2006/relationships/extended-properties" Target="/docProps/app.xml" Id="R8e6e4e9f431941f9" /><Relationship Type="http://schemas.openxmlformats.org/officeDocument/2006/relationships/officeDocument" Target="/ppt/presentation.xml" Id="R67fe060996c34b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1b92b9febd4c0e"/>
  </p:sldMasterIdLst>
  <p:notesMasterIdLst>
    <p:notesMasterId xmlns:r="http://schemas.openxmlformats.org/officeDocument/2006/relationships" r:id="R4ccda5371d8a4e33"/>
  </p:notesMasterIdLst>
  <p:sldIdLst>
    <p:sldId xmlns:r="http://schemas.openxmlformats.org/officeDocument/2006/relationships" id="256" r:id="Rd4b9c08e3ae14ab5"/>
    <p:sldId xmlns:r="http://schemas.openxmlformats.org/officeDocument/2006/relationships" id="257" r:id="Rd89bf4a944ef4503"/>
    <p:sldId xmlns:r="http://schemas.openxmlformats.org/officeDocument/2006/relationships" id="258" r:id="Rd5bfa4123a3f4c09"/>
    <p:sldId xmlns:r="http://schemas.openxmlformats.org/officeDocument/2006/relationships" id="259" r:id="R8586121fdbfa4bdb"/>
    <p:sldId xmlns:r="http://schemas.openxmlformats.org/officeDocument/2006/relationships" id="260" r:id="R32aa8f4aff324756"/>
    <p:sldId xmlns:r="http://schemas.openxmlformats.org/officeDocument/2006/relationships" id="261" r:id="R9d4ce744b03844a7"/>
    <p:sldId xmlns:r="http://schemas.openxmlformats.org/officeDocument/2006/relationships" id="262" r:id="R91141b77831742cd"/>
    <p:sldId xmlns:r="http://schemas.openxmlformats.org/officeDocument/2006/relationships" id="263" r:id="R531712d623424b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f8008997e4575" /><Relationship Type="http://schemas.openxmlformats.org/officeDocument/2006/relationships/slideMaster" Target="/ppt/slideMasters/slideMaster1.xml" Id="Ra11b92b9febd4c0e" /><Relationship Type="http://schemas.openxmlformats.org/officeDocument/2006/relationships/notesMaster" Target="/ppt/notesMasters/notesMaster1.xml" Id="R4ccda5371d8a4e33" /><Relationship Type="http://schemas.openxmlformats.org/officeDocument/2006/relationships/presProps" Target="/ppt/presProps.xml" Id="R59d914b9663d4d7e" /><Relationship Type="http://schemas.openxmlformats.org/officeDocument/2006/relationships/tableStyles" Target="/ppt/tableStyles.xml" Id="Rd2d943ba338e4f78" /><Relationship Type="http://schemas.openxmlformats.org/officeDocument/2006/relationships/slide" Target="/ppt/slides/slide1.xml" Id="Rd4b9c08e3ae14ab5" /><Relationship Type="http://schemas.openxmlformats.org/officeDocument/2006/relationships/slide" Target="/ppt/slides/slide2.xml" Id="Rd89bf4a944ef4503" /><Relationship Type="http://schemas.openxmlformats.org/officeDocument/2006/relationships/slide" Target="/ppt/slides/slide3.xml" Id="Rd5bfa4123a3f4c09" /><Relationship Type="http://schemas.openxmlformats.org/officeDocument/2006/relationships/slide" Target="/ppt/slides/slide4.xml" Id="R8586121fdbfa4bdb" /><Relationship Type="http://schemas.openxmlformats.org/officeDocument/2006/relationships/slide" Target="/ppt/slides/slide5.xml" Id="R32aa8f4aff324756" /><Relationship Type="http://schemas.openxmlformats.org/officeDocument/2006/relationships/slide" Target="/ppt/slides/slide6.xml" Id="R9d4ce744b03844a7" /><Relationship Type="http://schemas.openxmlformats.org/officeDocument/2006/relationships/slide" Target="/ppt/slides/slide7.xml" Id="R91141b77831742cd" /><Relationship Type="http://schemas.openxmlformats.org/officeDocument/2006/relationships/slide" Target="/ppt/slides/slide8.xml" Id="R531712d62342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0bc1d5daa44b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20c453490241cd" /><Relationship Type="http://schemas.openxmlformats.org/officeDocument/2006/relationships/notesMaster" Target="/ppt/notesMasters/notesMaster1.xml" Id="R417a006bbd3542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48b7bf95254f39" /><Relationship Type="http://schemas.openxmlformats.org/officeDocument/2006/relationships/notesMaster" Target="/ppt/notesMasters/notesMaster1.xml" Id="R3e069c5754d343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fd4e49386945e9" /><Relationship Type="http://schemas.openxmlformats.org/officeDocument/2006/relationships/notesMaster" Target="/ppt/notesMasters/notesMaster1.xml" Id="R20c5ff14e72045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4b3b03b4349cf" /><Relationship Type="http://schemas.openxmlformats.org/officeDocument/2006/relationships/notesMaster" Target="/ppt/notesMasters/notesMaster1.xml" Id="R0134e760f0af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4150dc80f747a9" /><Relationship Type="http://schemas.openxmlformats.org/officeDocument/2006/relationships/notesMaster" Target="/ppt/notesMasters/notesMaster1.xml" Id="Rd938b11c712d4c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0235dcbbcc431b" /><Relationship Type="http://schemas.openxmlformats.org/officeDocument/2006/relationships/notesMaster" Target="/ppt/notesMasters/notesMaster1.xml" Id="Rc170d97bb93348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36e085e1704286" /><Relationship Type="http://schemas.openxmlformats.org/officeDocument/2006/relationships/notesMaster" Target="/ppt/notesMasters/notesMaster1.xml" Id="R004f1ac35cc5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48768bf8c4923" /><Relationship Type="http://schemas.openxmlformats.org/officeDocument/2006/relationships/notesMaster" Target="/ppt/notesMasters/notesMaster1.xml" Id="R968074d875d644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依据：agent.cordis.yml、tool-delivery-controller/README.md、WORKFLOW.md、VALIDATION.md。所有结论按当前 preset 文件与验证记录整理。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persona；tool-policy.mjs；controller.mjs；README.md。硬约束包括角色工具白名单、路径边界、状态机、合同检查和同步门禁。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specialists；capabilities.mjs；specialists.mjs；WORKFLOW.md。流程图为概念汇总，PPT 中保持可编辑。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 中 model、specialists 与 persona。Doubao 媒体分析和动画规划使用同一底层模型但不同职责路由。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依据：controller.mjs；request-policy.mjs；html-contract.mjs；sync.mjs；agent.cordis.yml persona。流程中的修复次数受 delivery-contract.json 预算约束。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依据：tool-policy.mjs、workspace.mjs、store.mjs、decisions.mjs、sync.mjs、capabilities.mjs、request-policy.mjs，以及对应 tests。以上均为程序机制，不是仅靠 Skill 或 persona 的软约束。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依据：agent.cordis.yml；index.mjs；specialists.mjs；validation/runtime-reload-20260921.md；validation/read-write-restoration-20260921.md。task_* 包括 research、quality、vision、creative、animation、media 六个入口。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依据：VALIDATION.md；validation/model-config-20260921.md；validation/runtime-reload-20260921.md；README.md。98+7 来自 2026-09-22 跨会话过期预留修复记录；真实模型样例的适用范围按文档原有限制表述。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678bf7de846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da575d5874885" /><Relationship Type="http://schemas.openxmlformats.org/officeDocument/2006/relationships/slideLayout" Target="/ppt/slideLayouts/slideLayout1.xml" Id="Rb9d2d9e89fae48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2d9e89fae48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a10e605ba4684" /><Relationship Type="http://schemas.openxmlformats.org/officeDocument/2006/relationships/notesSlide" Target="/ppt/notesSlides/notesSlide1.xml" Id="Re7c2250ad0ef46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c1f0d9573468f" /><Relationship Type="http://schemas.openxmlformats.org/officeDocument/2006/relationships/notesSlide" Target="/ppt/notesSlides/notesSlide2.xml" Id="R974099ac0e9044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12106e57742ea" /><Relationship Type="http://schemas.openxmlformats.org/officeDocument/2006/relationships/notesSlide" Target="/ppt/notesSlides/notesSlide3.xml" Id="R706f8e91368a40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c5f39d96c4662" /><Relationship Type="http://schemas.openxmlformats.org/officeDocument/2006/relationships/notesSlide" Target="/ppt/notesSlides/notesSlide4.xml" Id="R0bbf1f8aefa546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b52cdd5ad4c59" /><Relationship Type="http://schemas.openxmlformats.org/officeDocument/2006/relationships/notesSlide" Target="/ppt/notesSlides/notesSlide5.xml" Id="Ra0ec14e1b7fd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90157094f4ee5" /><Relationship Type="http://schemas.openxmlformats.org/officeDocument/2006/relationships/notesSlide" Target="/ppt/notesSlides/notesSlide6.xml" Id="Re29b1587ba7445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4d6d1f7ae48a6" /><Relationship Type="http://schemas.openxmlformats.org/officeDocument/2006/relationships/notesSlide" Target="/ppt/notesSlides/notesSlide7.xml" Id="R7db8bca35a04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16e87be3442d2" /><Relationship Type="http://schemas.openxmlformats.org/officeDocument/2006/relationships/notesSlide" Target="/ppt/notesSlides/notesSlide8.xml" Id="Reb898a276cac44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6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660BD-CA8B-4DCD-A04F-E9227FC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600B2-184C-475B-B594-26E6948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2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75641-E309-4960-8EFA-1A124F1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E7F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DE7F0"/>
                </a:solidFill>
                <a:latin typeface="Hiragino Sans GB"/>
                <a:ea typeface="Hiragino Sans GB"/>
                <a:cs typeface="Hiragino Sans GB"/>
              </a:rPr>
              <a:t>专业多模型协作与可信研发交付能力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CD7A8-C2CB-426D-976C-6FFEDE20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4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AFC4D4"/>
                </a:solidFill>
                <a:latin typeface="Hiragino Sans GB"/>
                <a:ea typeface="Hiragino Sans GB"/>
                <a:cs typeface="Hiragino Sans GB"/>
              </a:rPr>
              <a:t>当前实现盘点 · 汇报版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26EE2-1897-4DC7-BAF3-65ECABC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47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6CD30-C487-49A5-93DC-E54A09F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核心定位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D1518-4514-4F68-9300-C173CD29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把自然语言任务转化为可隔离、可验证、可修复、可追溯的交付流程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20BD4-5206-4A9B-88B4-AF18616B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2026.09.22</a:t>
            </a:r>
          </a:p>
        </p:txBody>
      </p:sp>
    </p:spTree>
    <p:extLst>
      <p:ext uri="{BB962C8B-B14F-4D97-AF65-F5344CB8AC3E}">
        <p14:creationId xmlns:p14="http://schemas.microsoft.com/office/powerpoint/2010/main" val="278781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29F46-E1B5-4B11-ADA2-81D8E886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一套受控交付系统，而不是模型名单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0B9F0-68CF-484A-8221-9D7B1DA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当前能力由路由、隔离、门禁、同步和审计共同构成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C1899-959D-4D3B-AD4A-35914F79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77D4E-2D9F-4B7F-A653-9B6E813B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D1A0C-6586-43EC-A756-51B6B133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任务分流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1EFF1-6DB3-4C3F-A71B-2742D183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287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普通问答与简单文件任务直接处理，完整工程交付进入控制器。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19330-9C50-4AC3-B988-25F57146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622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FECB3-ABB0-47D7-8639-48D7336E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4AEE8-57D4-428F-B119-40C1AE6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86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专业协作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15B39-9C1B-4785-AE2A-3B521901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研究、创意、视觉、媒体与动画规划按能力缺口调用，最多并发 3 个。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A856F-E8EF-49CC-9DFF-B8374F55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2D192-D6BB-49CB-ABB3-F6F4D980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CBBD2-B5E5-4D5D-9CE7-00A853CF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52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可信交付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34285-8E9D-41E4-80E1-70B49089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623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隔离实现后执行合同检查、Kimi 独立审查与有界修复。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85249-43AE-4BDC-9C1E-B33B866A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95800"/>
            <a:ext cx="973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E0036-F9AB-42BF-8432-CE1A3BC7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0B16A-45E9-45D6-9BD9-520C6C0F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9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安全落地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E4AC9D-057C-4761-BF4F-C4B24BFD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291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通过后再同步项目，冲突由宿主提问，结果与证据写入持久状态。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16DB0-F55D-472C-991C-79C935D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已实现的关键差异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B6B0B-0820-4B9A-A71C-A2B7AFBB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95975"/>
            <a:ext cx="833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约束进入程序执行路径，违规调用会被隐藏、拒绝或阻断，而非只依赖提示词。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026A5-2EAE-4EC0-9EA1-79AEA74D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7777C-8F1F-4CEF-870E-A13801E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5393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C855F8-552E-4170-90A3-3AD2489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能力架构与信息流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39EA2-EBFA-44E0-9177-D4A5E7C0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专业模型提供判断，控制器负责权限、状态与验收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FA940-91D3-4B19-AB89-0189327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AC248-377E-4E96-9C17-2760638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4287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用户任务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97457-3003-4784-853F-5CCDB6EC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52700"/>
            <a:ext cx="16192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总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F42F2-2B2B-4AF0-B493-A83E2BEC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57450"/>
            <a:ext cx="1809750" cy="10858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交付控制器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C891D-E489-4AE3-B353-345EB580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0002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Kimi Code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隔离实现 / 修复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EC458-094B-44FA-8A9C-03F463E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2000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专业能力池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研究 · 创意 · 视觉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媒体 · 动画规划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DE4621-2220-4B30-951C-D95BAE24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180975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合同检查 +</a:t>
            </a:r>
          </a:p>
          <a:p xmlns:a="http://schemas.openxmlformats.org/drawingml/2006/main">
            <a:pPr algn="ctr">
              <a:def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Kimi 独立质量门禁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E234D-A47C-4ADD-BFB9-996A6D5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809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同步项目</a:t>
            </a:r>
          </a:p>
          <a:p xmlns:a="http://schemas.openxmlformats.org/drawingml/2006/main">
            <a:pPr algn="ctr">
              <a:def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复核 · 留痕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91000" y="30003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6619875" y="2057400"/>
            <a:ext cx="714375" cy="942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26B38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19875" y="3000375"/>
            <a:ext cx="71437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6EA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34500" y="2057400"/>
            <a:ext cx="476250" cy="514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334500" y="2571750"/>
            <a:ext cx="476250" cy="990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A6EA5"/>
            </a:solidFill>
            <a:prstDash val="dash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715625" y="3048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5715000" y="3543300"/>
            <a:ext cx="4095750" cy="6953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F26B38"/>
            </a:solidFill>
            <a:prstDash val="dash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3BA588-42FB-4EE8-B1B3-F62DC409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实线：主交付路径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558D5-592C-49B7-844E-A950F3D8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723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07B29-F721-429B-8FA3-6933EBDB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482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虚线：按需协助或修复反馈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EF9C9-7717-478B-8937-1EFAD846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91175"/>
            <a:ext cx="723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6EA5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EA22A-4167-40E1-BA1B-2DAFA079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每个专业节点使用独立只读或受限副本，报告以哈希绑定的 report: 引用交接。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0C77C-5A56-4B74-A28F-EB4393DC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A6146-486A-435F-AD80-7F30FB2F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54770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908C38-957A-4EFD-8B5D-5B71212C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当前模型分工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CB699-4302-4232-8759-6628D29D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模型按职责固定路由，专业节点不能继续委派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D1398-250E-42A9-9ECD-D9E2E1F1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D6700-A699-415B-BC11-EA4D80D5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38FD2-663E-43C9-AE23-279BFFB2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实际模型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C325F-806A-4EF9-B621-1CD95203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573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可交付内容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24E61-E46B-4B63-8CA2-0BB55315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E3B66-0A6F-4FF6-B353-866956EA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研发实现 / 修复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BC707-8A79-4EFA-BA1F-3A30F27F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K2.7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C5C5C-A6DF-4707-8D28-D03B94B6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读写隔离工作副本、执行测试、提交实际文件差异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0B853-22AC-4F1D-AFB7-AE0A2B2A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51FD7-E47D-4ACA-A9E2-2DC29735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长上下文研究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FF5E7-BE27-4EF5-B2A5-32370391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384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 8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D1723-04E2-486F-87EE-219AE194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384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阅读用户提供的材料并形成带来源的综合报告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ED256-6238-4D01-8F6B-710D99A2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10260-B6DA-40B0-9D67-77907559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独立质量审查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D0010A-5173-498D-9EB0-663DCDA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242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Kimi K2.7 Code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CC23C-860B-4401-B651-DBEB61D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242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只读检查代码并执行验证命令，返回通过 / 失败 / 阻塞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DBFEF-867C-454C-8515-47F496E6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175B3-3112-4DB2-8331-D634F08F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视觉分析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20CBF-F857-41C8-BFBB-18AC3CA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GLM 5.3 Flash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CB6B4B-1777-4204-85FF-85247F54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100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读取静态图片并输出事实与推断分离的视觉结论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F06A4-FE6F-44CC-88B5-B26F8032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9C122-FA70-4FF1-A201-9CD4CFF5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创意内容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AC1C3-8F78-439B-BAE3-A27FFF7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MiniMax M3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270DC8-8674-4208-B257-E65E1B4D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按品牌、受众和渠道生成完整文案与创意版本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1C0699-85A2-4A9D-87A3-5FB0A0F8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C2CEB6-EB97-4C94-ABCC-FF799E5B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媒体 / 动画规划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77897E-EAB8-48B0-AE4C-84A0F5B8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Doubao Seed 2.0 Lite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85D856-4B37-4A55-82C8-0499A9C1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分析图片或字幕；为 HTML / SVG 动画给出分镜与节奏方案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4041E-AA96-4E0D-A110-F1C40511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6C5086-5846-492D-8B88-CD2202E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42295-CD89-4DE7-B101-108C62C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09202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3573DE-644A-48FC-8BAE-3694C16B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工程交付流程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952E7-7858-4CE7-B325-A1D2A37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默认 project 模式在验收通过后自动同步，并对同步结果再次检查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C415B-BCD4-435C-9B6F-78C29A0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C797D-4177-4D2E-BB98-F61F1546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9C687-DB5D-417A-9CB6-CC3143F1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1B19B-07D7-4DAF-9568-2CE51DD2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接收目标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E83E9-4F5F-4B99-BAAA-319D1333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49F2C-7C5A-4D53-B41A-7CB83B6A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ADC2C-4A2B-4052-9ED4-90B9FB2E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建立快照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AC287-62FF-4FE6-86C8-4FDC1D93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B4F34-6BBB-4E55-BC6A-94EDF777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61CDA-485A-4465-83A2-C3CA938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隔离实现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69CCF-2E7C-4A22-B5DD-E07F638D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0975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6B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11D11-5535-4C4E-ADA0-BC685751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7167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73E40-E2C3-4F39-BFFE-D4438EF5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7645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合同检查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2DE7-FD62-4136-9AE6-CFECE7E7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8B297-CBF1-45D8-9814-6860A08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8F54E2-3040-4978-9746-19C8C656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独立审查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46BC7-8B39-4D7F-A8B6-1789BDD3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445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E602E0-5748-41DC-BA19-52EB8775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D300D-8265-48A5-81D7-02A1CFA6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有界修复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ED75A-D392-4163-8513-3CFE5D5B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E42D2-43D8-4920-9561-F94A4A36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053DF-3A0C-4131-BE48-9A44B8A8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三方同步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C751B-CE65-4C2F-A31C-27C2E9E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20955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134E5C-B094-4EBF-837E-8A646D6A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48125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2C490E-2236-4599-A9CE-4286E7DA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1304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同步后复核</a:t>
            </a:r>
          </a:p>
        </p:txBody>
      </p:sp>
      <p:cxnSp>
        <p:nvCxnSpPr>
          <p:cNvPr id="68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38450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53075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267700" y="22479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934575" y="2686050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26770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9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5553075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2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283845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2A4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2D3EE7-F9D8-4941-B302-0C5B6E0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385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C44536"/>
                </a:solidFill>
                <a:latin typeface="Hiragino Sans GB"/>
                <a:ea typeface="Hiragino Sans GB"/>
                <a:cs typeface="Hiragino Sans GB"/>
              </a:rPr>
              <a:t>失败或审查不通过</a:t>
            </a:r>
          </a:p>
        </p:txBody>
      </p:sp>
      <p:cxnSp>
        <p:nvCxnSpPr>
          <p:cNvPr id="76" name=""/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267700" y="43243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4536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2BF979-2E22-462F-8AE0-EBEF6875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独立单 HTML 可按用户明确要求进入 unverified 路径，但仍保留隔离、路径边界、冲突保护和受控同步。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F2889C-A07C-4B82-8018-D1615CF3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未验证路径必须标记 assurance=unverified，不能宣称验收通过。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5BBC03-F033-4DE2-96AF-7ED572F1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70CBDC-7157-4409-9FE0-18E7F240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51408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67045B-CD25-4882-9F7E-FA448B7F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已落地的硬约束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8773E-F22B-42C9-A45A-76BD5662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控制器在执行路径中阻断越权、伪造通过和不安全同步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A7C25-ED75-4A12-B5B0-66BE0CC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0ECE0-9F1F-4955-AF85-71190231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D04FE-1EF4-4D2C-96F1-C503AF1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工具权限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B7AEE-72A9-475C-BDFE-A6313A4F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根、Worker、专业节点和审查者使用不同白名单；越权调用被隐藏并拒绝。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5696E-D7FA-4E43-A3D8-F1166274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8198B-042A-4AD8-9656-B71BCFB3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811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89B31-55AB-440D-8062-10287DDC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文件边界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B2E73-EC1A-4CFF-B450-1E414AC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相对路径绑定工作区；拒绝越界、符号链接逃逸和未授权绝对路径。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A9CAD-E4A2-4D02-BC1A-18DBAA83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17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1D872-B41D-4D19-9A95-4D50E4E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7F269-9BB9-4EE3-9B6C-98FDDB6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6FEF2-EB29-4645-A66C-3B138983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任务只能按允许的状态转换；失败、阻塞、取消与通过分别记录。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0B494-6CC5-483A-A0FD-EDAF2011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023F6-B823-457E-8B32-D098AAC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9F7BD-DCB5-4ECF-A0C5-0B608DB3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验收门禁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86A7A6-7C85-4F02-B3E5-93F78287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真实文件差异、测试命令和独立审查与同一快照绑定，不能靠口头完成。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02F35-B8E1-4811-A939-E5D78CE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CA303-387C-4A11-A11C-5C4924D9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DDA758-6922-40FE-8C2B-75ED52E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冲突决策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21657-1762-4D5F-A179-ED35C03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需要取舍的冲突通过宿主交互获取答案，并绑定当时版本一次性消费。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EC609-0906-4FC3-9564-172BB1D8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36BE22-CB22-4954-8985-96312ED0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529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3A6EA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E5480-B348-4812-BC09-E2196D37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调用预算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FD39F5-DD56-4824-B7ED-44E2968B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专业请求受次数、并发、输入范围和重复请求限制，失败不会重置预算。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B0BFF-6631-4FB5-B337-C199D167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743575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E7BB85-7815-435E-ACBC-0D750BC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06BDA-81BC-4906-8060-DF4D0FC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63338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BC2E3-BF36-4021-9DFA-EC8EDD51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对用户可见的能力入口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8613F-4B39-47A4-B4EB-D1FD5F1C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14 项核心入口覆盖交付、专业协助、任务组织与简单文件操作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0A815-F81C-4E76-B9AB-2060E86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F1861-4363-4F91-A1AE-DFF4645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26B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FE933-E349-4290-9E44-959D35B6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82C2D-55AC-4F00-8BD9-7D85756A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交付控制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77884-AE92-45A5-8BFE-CA0425FC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delivery_start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delivery_status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delivery_resume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delivery_cancel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47F84-096A-48EB-8F56-A7147E6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9CB94-4E33-4FD8-B23E-BFE84A81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E58F3-49E0-49ED-9BF4-287125F9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专业协助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9BD8D5-4A7D-46DB-ADBF-6BE42E45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request_capability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capability_status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multimodel_run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6 个 task_* 兼容入口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8452A-31D2-4EEE-BA92-B186C54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A9D8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AA154-1C58-4446-A7DD-6A0462C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572D8-EB2A-4AB9-BA85-37DC655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任务组织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E3CC0-DF2A-496B-8ACA-90D4DC3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todo_write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ask_user_question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3769C-68EF-4FC3-820F-D53F6644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85925"/>
            <a:ext cx="2324100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D1DD3-DBE5-440E-9ACF-8FF849B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85925"/>
            <a:ext cx="2324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BBABB-100F-49E9-860B-C982891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47875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直接文件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EA803-DAE6-45B1-B5AD-BD3D4B37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190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read / write / edit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glob / grep</a:t>
            </a:r>
          </a:p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根 bash 不开放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5EC534-FA13-4CAC-9302-5E579CE5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80AC0-1638-4A01-8F8F-B845299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0542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02A43"/>
                </a:solidFill>
                <a:latin typeface="Hiragino Sans GB"/>
                <a:ea typeface="Hiragino Sans GB"/>
                <a:cs typeface="Hiragino Sans GB"/>
              </a:rPr>
              <a:t>模型日志为宿主界面插件，不属于模型可调用 Tool；read_image 和 snapshot_explore 只在受控子模型上下文开放。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6D65A-E024-4C13-BA6E-A4293BF1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拼好模能力汇报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7FCA1-4363-4859-BCD0-5F79FAA3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2606D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56188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6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61621D-4EEE-49B4-8B36-F47F11D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当前成熟度：机制扎实，真实场景覆盖仍需扩大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77758-890C-4963-9AA9-315626D4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3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7959-7361-448A-972F-CE3B4E01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已有验证证据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23690-5D6A-476E-9613-06AA05CB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98 项单元 / 状态机测试 + 7 项真实 DSH 集成测试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3A7647-2349-41CF-88B4-FC4A3E59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AD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B8CAD8"/>
                </a:solidFill>
                <a:latin typeface="Hiragino Sans GB"/>
                <a:ea typeface="Hiragino Sans GB"/>
                <a:cs typeface="Hiragino Sans GB"/>
              </a:rPr>
              <a:t>已覆盖过期预留回收、权限边界、隔离沙箱、状态恢复、冲突决策、同步与复核等路径。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221AB-8824-48F3-A508-04FF06FF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2A9D8F"/>
                </a:solidFill>
                <a:latin typeface="Hiragino Sans GB"/>
                <a:ea typeface="Hiragino Sans GB"/>
                <a:cs typeface="Hiragino Sans GB"/>
              </a:rPr>
              <a:t>历史真实模型样例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C2420-9922-4F76-9B11-4C2B004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762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DeepSeek → Kimi 的小型修复交付曾真实通过；MiniMax 协助文案样例也已完成交接验证。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D3EC4-7121-4F24-848E-BCFD233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430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6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7DC62-2A89-4DD2-8B20-CDB5E0C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62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仍需明确的边界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61E76-0C53-4DB3-882A-D7C486B8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764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D7089-E25F-42F4-8D48-E960FF9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当前 Kimi Code 实现路由尚需更多真实工程任务验证。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E8AD1-B2D9-4058-BCAA-513804BA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90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F4B47-C848-43C3-9E51-315E5DEA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5272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Kimi 研究、GLM、豆包媒体与多专业 DAG 尚未形成充分真实样本。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08994-CB7B-4BCD-B38D-64AA323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4BC98-1004-467A-9D11-911CA733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6710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没有原生音视频传输、联网研究或 ArkCLI 图片 / 视频生成通道。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F66969-4F00-476E-89AF-8B8DAFE5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0D9E7-A2E5-41A2-A568-99AFA60B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8147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Docker Worker 未接入；当前隔离执行重点验证于 macOS Seatbelt。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524ADC-1C1E-4536-BBF7-2E2A9AA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33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9C46A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9534D-07D0-40B1-8A8E-12D95720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7E3EC"/>
                </a:solidFill>
                <a:latin typeface="Hiragino Sans GB"/>
                <a:ea typeface="Hiragino Sans GB"/>
                <a:cs typeface="Hiragino Sans GB"/>
              </a:rPr>
              <a:t>文件同步不是多文件全局原子事务，仍依赖冲突检测与同步后复核。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0E045-398E-422D-B570-43FCAECA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26B38"/>
                </a:solidFill>
                <a:latin typeface="Hiragino Sans GB"/>
                <a:ea typeface="Hiragino Sans GB"/>
                <a:cs typeface="Hiragino Sans GB"/>
              </a:rPr>
              <a:t>汇报结论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47C13-A571-4F3D-9F92-ADE57C1B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9595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DF8"/>
                </a:solidFill>
                <a:latin typeface="Hiragino Sans GB"/>
                <a:ea typeface="Hiragino Sans GB"/>
                <a:cs typeface="Hiragino Sans GB"/>
              </a:rPr>
              <a:t>拼好模已具备可投入试点的可信交付框架，下一阶段重点是扩充真实任务样本与媒体生成通道。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4D66C-71B5-4920-954B-711EB845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829AB1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7650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2026-09-22T06:36:27.3730000Z</dcterms:created>
  <dcterms:modified xsi:type="dcterms:W3CDTF">2026-09-22T06:36:27.3730000Z</dcterms:modified>
</coreProperties>
</file>